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199838343549fe" /><Relationship Type="http://schemas.openxmlformats.org/officeDocument/2006/relationships/extended-properties" Target="/docProps/app.xml" Id="R31b4f181217b4237" /><Relationship Type="http://schemas.openxmlformats.org/officeDocument/2006/relationships/officeDocument" Target="/ppt/presentation.xml" Id="R4474a57282324c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8c16a679fe489c"/>
  </p:sldMasterIdLst>
  <p:notesMasterIdLst>
    <p:notesMasterId xmlns:r="http://schemas.openxmlformats.org/officeDocument/2006/relationships" r:id="Rbf7ba504842640cb"/>
  </p:notesMasterIdLst>
  <p:sldIdLst>
    <p:sldId xmlns:r="http://schemas.openxmlformats.org/officeDocument/2006/relationships" id="256" r:id="R45bdbe66544f4083"/>
    <p:sldId xmlns:r="http://schemas.openxmlformats.org/officeDocument/2006/relationships" id="257" r:id="Rd6e0797285774003"/>
    <p:sldId xmlns:r="http://schemas.openxmlformats.org/officeDocument/2006/relationships" id="258" r:id="Rfe82a7770a1244a1"/>
    <p:sldId xmlns:r="http://schemas.openxmlformats.org/officeDocument/2006/relationships" id="259" r:id="R8f86bd5c11554719"/>
    <p:sldId xmlns:r="http://schemas.openxmlformats.org/officeDocument/2006/relationships" id="260" r:id="Rbf6eaf3389354d93"/>
    <p:sldId xmlns:r="http://schemas.openxmlformats.org/officeDocument/2006/relationships" id="261" r:id="R4f329acc794f442c"/>
    <p:sldId xmlns:r="http://schemas.openxmlformats.org/officeDocument/2006/relationships" id="262" r:id="R0d8eacb400054300"/>
    <p:sldId xmlns:r="http://schemas.openxmlformats.org/officeDocument/2006/relationships" id="263" r:id="Rf8d219c418f342d6"/>
    <p:sldId xmlns:r="http://schemas.openxmlformats.org/officeDocument/2006/relationships" id="264" r:id="Rf7ee610036464b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ca5e2552ef42ce" /><Relationship Type="http://schemas.openxmlformats.org/officeDocument/2006/relationships/slideMaster" Target="/ppt/slideMasters/slideMaster1.xml" Id="R238c16a679fe489c" /><Relationship Type="http://schemas.openxmlformats.org/officeDocument/2006/relationships/notesMaster" Target="/ppt/notesMasters/notesMaster1.xml" Id="Rbf7ba504842640cb" /><Relationship Type="http://schemas.openxmlformats.org/officeDocument/2006/relationships/presProps" Target="/ppt/presProps.xml" Id="R2b3b5fbdae9e4917" /><Relationship Type="http://schemas.openxmlformats.org/officeDocument/2006/relationships/tableStyles" Target="/ppt/tableStyles.xml" Id="Rf1cfe7cfe2b449f1" /><Relationship Type="http://schemas.openxmlformats.org/officeDocument/2006/relationships/slide" Target="/ppt/slides/slide1.xml" Id="R45bdbe66544f4083" /><Relationship Type="http://schemas.openxmlformats.org/officeDocument/2006/relationships/slide" Target="/ppt/slides/slide2.xml" Id="Rd6e0797285774003" /><Relationship Type="http://schemas.openxmlformats.org/officeDocument/2006/relationships/slide" Target="/ppt/slides/slide3.xml" Id="Rfe82a7770a1244a1" /><Relationship Type="http://schemas.openxmlformats.org/officeDocument/2006/relationships/slide" Target="/ppt/slides/slide4.xml" Id="R8f86bd5c11554719" /><Relationship Type="http://schemas.openxmlformats.org/officeDocument/2006/relationships/slide" Target="/ppt/slides/slide5.xml" Id="Rbf6eaf3389354d93" /><Relationship Type="http://schemas.openxmlformats.org/officeDocument/2006/relationships/slide" Target="/ppt/slides/slide6.xml" Id="R4f329acc794f442c" /><Relationship Type="http://schemas.openxmlformats.org/officeDocument/2006/relationships/slide" Target="/ppt/slides/slide7.xml" Id="R0d8eacb400054300" /><Relationship Type="http://schemas.openxmlformats.org/officeDocument/2006/relationships/slide" Target="/ppt/slides/slide8.xml" Id="Rf8d219c418f342d6" /><Relationship Type="http://schemas.openxmlformats.org/officeDocument/2006/relationships/slide" Target="/ppt/slides/slide9.xml" Id="Rf7ee610036464b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1503fb654b43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08f797d6b44236" /><Relationship Type="http://schemas.openxmlformats.org/officeDocument/2006/relationships/notesMaster" Target="/ppt/notesMasters/notesMaster1.xml" Id="R423a70f21ea9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9518821bb54e2d" /><Relationship Type="http://schemas.openxmlformats.org/officeDocument/2006/relationships/notesMaster" Target="/ppt/notesMasters/notesMaster1.xml" Id="R4d29f594167347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b045dd1c349c2" /><Relationship Type="http://schemas.openxmlformats.org/officeDocument/2006/relationships/notesMaster" Target="/ppt/notesMasters/notesMaster1.xml" Id="R3b730c0a8cbd47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dfdd2184d5464b" /><Relationship Type="http://schemas.openxmlformats.org/officeDocument/2006/relationships/notesMaster" Target="/ppt/notesMasters/notesMaster1.xml" Id="R873057917a0c48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8d5647ca924171" /><Relationship Type="http://schemas.openxmlformats.org/officeDocument/2006/relationships/notesMaster" Target="/ppt/notesMasters/notesMaster1.xml" Id="R50a0e19260db4f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5a0ae1827e4748" /><Relationship Type="http://schemas.openxmlformats.org/officeDocument/2006/relationships/notesMaster" Target="/ppt/notesMasters/notesMaster1.xml" Id="R4d7f02e1d41d49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0c9e9bcaa045a3" /><Relationship Type="http://schemas.openxmlformats.org/officeDocument/2006/relationships/notesMaster" Target="/ppt/notesMasters/notesMaster1.xml" Id="Rc616be783e1049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7dda1a19d04e69" /><Relationship Type="http://schemas.openxmlformats.org/officeDocument/2006/relationships/notesMaster" Target="/ppt/notesMasters/notesMaster1.xml" Id="R9851afde29804e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326b74db454d45" /><Relationship Type="http://schemas.openxmlformats.org/officeDocument/2006/relationships/notesMaster" Target="/ppt/notesMasters/notesMaster1.xml" Id="R8a2d32b1dec341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本说明介绍 1.0.12 候选版本相对 1.0.11 的更新。不是已上线公告。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工作单对应 R26-01、R26-02、R26-03、R26-04。核心界面自动回归不是新增业务功能。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实现来源：apps/miniapp/src/pages/booking/use-booking-availability.ts 及 availability.spec.ts。当前查询成功前不得选场次，并忽略过期响应。本问题是显示与选择状态混用，不能据此宣称曾经发生重复出售。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已用 102 条课次测试今日查询、50+50+2 分页与历史详情。102 是测试样本数，不是产品上限。教练查询范围保持。截图：output/ui-acceptance/training-pagination/history-session.png；来源为本地自动回归的 H5 模拟数据，不是真机或实际经营记录。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这不是 1.0.12 首次上线的业务功能。本版将试听补齐课次、返回保留学员与备注、新课次自动选择，以及创建课程后返回班级表单纳入自动界面回归。截图：output/ui-acceptance/training/03-trial-returned-with-session.png。姓名、手机号、日期为测试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截图：output/ui-acceptance/booking-refund/01-assisted-success-375.png，仅放大代订回执。订单、日期与金额为模拟数据。回归同时覆盖退款结果已接受但列表刷新失败、刷新恢复及重新打开订单。真实到账仍须在微信现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CI 证据：https://github.com/taoyu051818-sys/yanqing/actions/runs/36234383389；代码修订 CI：https://github.com/taoyu051818-sys/yanqing/actions/runs/36234154636。API 常规单元跳过的数据库用例未计为通过；390 是独立 PostgreSQL 核心矩阵结果。界面为 H5 mock，不能代替真实微信登录、支付、退款和分享验收。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完整步骤：docs/acceptance-1.0.12.md，共 7 步。已有功能成人、青少年、不限，以及试听学员搜索或新增需在本次体验版真机核对，不要用旧版 1.0.11 判断本轮结果。不得为验收在生产大量创建假课次。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版本来源：/Users/mac/Documents/Codex/2026-08-27/https-github-com-taoyu051818-sys-yanqing/work/yanqing/docs/project-status.md</a:t>
            </a:r>
          </a:p>
          <a:p xmlns:a="http://schemas.openxmlformats.org/drawingml/2006/main">
            <a:r>
              <a:t>验收来源：/Users/mac/Documents/Codex/2026-08-27/https-github-com-taoyu051818-sys-yanqing/work/yanqing/docs/acceptance-1.0.12.md</a:t>
            </a:r>
          </a:p>
          <a:p xmlns:a="http://schemas.openxmlformats.org/drawingml/2006/main">
            <a:r>
              <a:t>源码：https://github.com/taoyu051818-sys/yanqing/pull/19</a:t>
            </a:r>
          </a:p>
          <a:p xmlns:a="http://schemas.openxmlformats.org/drawingml/2006/main">
            <a:r>
              <a:t>合并提交：a98cda6530a89e0cf5147f2d4dc4d757bbcc7aaa</a:t>
            </a:r>
          </a:p>
          <a:p xmlns:a="http://schemas.openxmlformats.org/drawingml/2006/main">
            <a:r>
              <a:t>资料整理日期：2026-09-27。代码已合并，发布与手机现场验收待执行。</a:t>
            </a:r>
          </a:p>
          <a:p xmlns:a="http://schemas.openxmlformats.org/drawingml/2006/main">
            <a:r>
              <a:t>部署状态来自 docs/project-status.md，不是本 PPT 制作期间执行了部署。1.0.11 为交付基线，1.0.12 PR #19 已合并。服务端新增分页与单条查询接口，因此须先部署 API，再交付新小程序。未获得微信上传回执和真机证据，不宣称发布与验收完成。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90e96ea6645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0faf0f5744bd6" /><Relationship Type="http://schemas.openxmlformats.org/officeDocument/2006/relationships/slideLayout" Target="/ppt/slideLayouts/slideLayout1.xml" Id="R19b4dca53006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b4dca53006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c7a8c6a374608" /><Relationship Type="http://schemas.openxmlformats.org/officeDocument/2006/relationships/notesSlide" Target="/ppt/notesSlides/notesSlide1.xml" Id="R2ca6317a548647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3ccafeef845b1" /><Relationship Type="http://schemas.openxmlformats.org/officeDocument/2006/relationships/notesSlide" Target="/ppt/notesSlides/notesSlide2.xml" Id="Rc341f009b4f3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16b2fb6b44509" /><Relationship Type="http://schemas.openxmlformats.org/officeDocument/2006/relationships/notesSlide" Target="/ppt/notesSlides/notesSlide3.xml" Id="R35b217c96d784b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27d393477417f" /><Relationship Type="http://schemas.openxmlformats.org/officeDocument/2006/relationships/image" Target="/ppt/media/image.png" Id="R0f70fcb43086491b" /><Relationship Type="http://schemas.openxmlformats.org/officeDocument/2006/relationships/notesSlide" Target="/ppt/notesSlides/notesSlide4.xml" Id="R4de6134894d14b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b673454b749dd" /><Relationship Type="http://schemas.openxmlformats.org/officeDocument/2006/relationships/image" Target="/ppt/media/image2.png" Id="Rec263ac96e1947f6" /><Relationship Type="http://schemas.openxmlformats.org/officeDocument/2006/relationships/notesSlide" Target="/ppt/notesSlides/notesSlide5.xml" Id="R8c72899cb22d49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1d4a3bf174a00" /><Relationship Type="http://schemas.openxmlformats.org/officeDocument/2006/relationships/image" Target="/ppt/media/image3.png" Id="R4e5af2b8fc974386" /><Relationship Type="http://schemas.openxmlformats.org/officeDocument/2006/relationships/notesSlide" Target="/ppt/notesSlides/notesSlide6.xml" Id="Ra600a61aa42942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d4c39c3ee4fd8" /><Relationship Type="http://schemas.openxmlformats.org/officeDocument/2006/relationships/notesSlide" Target="/ppt/notesSlides/notesSlide7.xml" Id="R63b5b3aef16949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794c12a444781" /><Relationship Type="http://schemas.openxmlformats.org/officeDocument/2006/relationships/notesSlide" Target="/ppt/notesSlides/notesSlide8.xml" Id="R900f4d78178b40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95254956740b7" /><Relationship Type="http://schemas.openxmlformats.org/officeDocument/2006/relationships/notesSlide" Target="/ppt/notesSlides/notesSlide9.xml" Id="R0a3a61e793c0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金羽会员">
            <a:extLst xmlns:a="http://schemas.openxmlformats.org/drawingml/2006/main">
              <a:ext uri="{FF2B5EF4-FFF2-40B4-BE49-F238E27FC236}">
                <a16:creationId xmlns:a16="http://schemas.microsoft.com/office/drawing/2014/main" id="{BB023FBC-1A0A-41CE-9A4B-4F9B3D76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金羽会员</a:t>
            </a:r>
          </a:p>
        </p:txBody>
      </p:sp>
      <p:sp>
        <p:nvSpPr>
          <p:cNvPr id="2" name="1.0.12">
            <a:extLst xmlns:a="http://schemas.openxmlformats.org/drawingml/2006/main">
              <a:ext uri="{FF2B5EF4-FFF2-40B4-BE49-F238E27FC236}">
                <a16:creationId xmlns:a16="http://schemas.microsoft.com/office/drawing/2014/main" id="{04C43F77-905D-4384-AC4D-044F19BE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1.0.12</a:t>
            </a:r>
          </a:p>
        </p:txBody>
      </p:sp>
      <p:sp>
        <p:nvSpPr>
          <p:cNvPr id="3" name="版本更新说明">
            <a:extLst xmlns:a="http://schemas.openxmlformats.org/drawingml/2006/main">
              <a:ext uri="{FF2B5EF4-FFF2-40B4-BE49-F238E27FC236}">
                <a16:creationId xmlns:a16="http://schemas.microsoft.com/office/drawing/2014/main" id="{475A32C5-6277-466F-92EF-81CDC500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版本更新说明</a:t>
            </a:r>
          </a:p>
        </p:txBody>
      </p:sp>
      <p:sp>
        <p:nvSpPr>
          <p:cNvPr id="4" name="订场与培训查询修复">
            <a:extLst xmlns:a="http://schemas.openxmlformats.org/drawingml/2006/main">
              <a:ext uri="{FF2B5EF4-FFF2-40B4-BE49-F238E27FC236}">
                <a16:creationId xmlns:a16="http://schemas.microsoft.com/office/drawing/2014/main" id="{54C598BA-AA6A-4E10-BE13-687AD13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6E5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D6E5D6"/>
                </a:solidFill>
                <a:latin typeface="Hiragino Sans GB"/>
                <a:ea typeface="Hiragino Sans GB"/>
                <a:cs typeface="Hiragino Sans GB"/>
              </a:rPr>
              <a:t>订场与培训查询修复</a:t>
            </a:r>
          </a:p>
        </p:txBody>
      </p:sp>
      <p:sp>
        <p:nvSpPr>
          <p:cNvPr id="5" name="代码已合并，待部署与真机验收">
            <a:extLst xmlns:a="http://schemas.openxmlformats.org/drawingml/2006/main">
              <a:ext uri="{FF2B5EF4-FFF2-40B4-BE49-F238E27FC236}">
                <a16:creationId xmlns:a16="http://schemas.microsoft.com/office/drawing/2014/main" id="{098E6CF5-E322-4EEE-B74F-67CE4E33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BBE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DBBE7A"/>
                </a:solidFill>
                <a:latin typeface="Hiragino Sans GB"/>
                <a:ea typeface="Hiragino Sans GB"/>
                <a:cs typeface="Hiragino Sans GB"/>
              </a:rPr>
              <a:t>代码已合并，待部署与真机验收</a:t>
            </a:r>
          </a:p>
        </p:txBody>
      </p:sp>
      <p:sp>
        <p:nvSpPr>
          <p:cNvPr id="6" name="2026.09.27">
            <a:extLst xmlns:a="http://schemas.openxmlformats.org/drawingml/2006/main">
              <a:ext uri="{FF2B5EF4-FFF2-40B4-BE49-F238E27FC236}">
                <a16:creationId xmlns:a16="http://schemas.microsoft.com/office/drawing/2014/main" id="{1047D490-7D8B-4346-966F-8CBD760E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53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6E5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D6E5D6"/>
                </a:solidFill>
                <a:latin typeface="Hiragino Sans GB"/>
                <a:ea typeface="Hiragino Sans GB"/>
                <a:cs typeface="Hiragino Sans GB"/>
              </a:rPr>
              <a:t>2026.09.27</a:t>
            </a:r>
          </a:p>
        </p:txBody>
      </p:sp>
    </p:spTree>
    <p:extLst>
      <p:ext uri="{BB962C8B-B14F-4D97-AF65-F5344CB8AC3E}">
        <p14:creationId xmlns:p14="http://schemas.microsoft.com/office/powerpoint/2010/main" val="1479687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本版更新概览">
            <a:extLst xmlns:a="http://schemas.openxmlformats.org/drawingml/2006/main">
              <a:ext uri="{FF2B5EF4-FFF2-40B4-BE49-F238E27FC236}">
                <a16:creationId xmlns:a16="http://schemas.microsoft.com/office/drawing/2014/main" id="{0EA6338B-1D3F-4250-9ABC-3534590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本版更新概览</a:t>
            </a:r>
          </a:p>
        </p:txBody>
      </p:sp>
      <p:sp>
        <p:nvSpPr>
          <p:cNvPr id="2" name="使用变化集中在订场与培训，后台补强验证与交付记录">
            <a:extLst xmlns:a="http://schemas.openxmlformats.org/drawingml/2006/main">
              <a:ext uri="{FF2B5EF4-FFF2-40B4-BE49-F238E27FC236}">
                <a16:creationId xmlns:a16="http://schemas.microsoft.com/office/drawing/2014/main" id="{C9F09B2C-D9B8-4FBD-BB93-FF54419D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使用变化集中在订场与培训，后台补强验证与交付记录。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F599EC01-E74E-46E1-B9B1-7BBA61F2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81500"/>
                <a:gridCol w="4819650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本次变化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使用上的帮助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订场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预约数据绑定当前日期与订场模式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加载失败时不再混用旧数据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培训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先筛选再分页，按编号查询详情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课次多时仍能找到今日与历史课次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版本管理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统一版本、工作单与验收入口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可以分清已开发、已发布和已验收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自动验证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核心界面流程接入持续集成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后续修改更早发现流程回退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895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订场日期与加载失败">
            <a:extLst xmlns:a="http://schemas.openxmlformats.org/drawingml/2006/main">
              <a:ext uri="{FF2B5EF4-FFF2-40B4-BE49-F238E27FC236}">
                <a16:creationId xmlns:a16="http://schemas.microsoft.com/office/drawing/2014/main" id="{B798C2EB-3E02-4301-84B8-14653BD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订场日期与加载失败</a:t>
            </a:r>
          </a:p>
        </p:txBody>
      </p:sp>
      <p:sp>
        <p:nvSpPr>
          <p:cNvPr id="2" name="日期变了，页面就必须使用该日期的预约数据。">
            <a:extLst xmlns:a="http://schemas.openxmlformats.org/drawingml/2006/main">
              <a:ext uri="{FF2B5EF4-FFF2-40B4-BE49-F238E27FC236}">
                <a16:creationId xmlns:a16="http://schemas.microsoft.com/office/drawing/2014/main" id="{F50AE319-EE90-452D-94AE-1927256F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日期变了，页面就必须使用该日期的预约数据。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87F58AD9-0CE7-463A-B8DB-6DA55C50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修复前">
            <a:extLst xmlns:a="http://schemas.openxmlformats.org/drawingml/2006/main">
              <a:ext uri="{FF2B5EF4-FFF2-40B4-BE49-F238E27FC236}">
                <a16:creationId xmlns:a16="http://schemas.microsoft.com/office/drawing/2014/main" id="{B5138EC9-D20B-4EB7-8B3F-38292F35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修复前</a:t>
            </a:r>
          </a:p>
        </p:txBody>
      </p:sp>
      <p:sp>
        <p:nvSpPr>
          <p:cNvPr id="5" name="切换日期后如果加载失败，&#10;页面可能仍显示上一天的">
            <a:extLst xmlns:a="http://schemas.openxmlformats.org/drawingml/2006/main">
              <a:ext uri="{FF2B5EF4-FFF2-40B4-BE49-F238E27FC236}">
                <a16:creationId xmlns:a16="http://schemas.microsoft.com/office/drawing/2014/main" id="{AB88B699-2DD0-48C9-BC58-4626E92B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切换日期后如果加载失败，</a:t>
            </a:r>
          </a:p>
          <a:p xmlns:a="http://schemas.openxmlformats.org/drawingml/2006/main">
            <a:pPr>
              <a:def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页面可能仍显示上一天的场次。</a:t>
            </a:r>
          </a:p>
        </p:txBody>
      </p:sp>
      <p:sp>
        <p:nvSpPr>
          <p:cNvPr id="6" name="修复后">
            <a:extLst xmlns:a="http://schemas.openxmlformats.org/drawingml/2006/main">
              <a:ext uri="{FF2B5EF4-FFF2-40B4-BE49-F238E27FC236}">
                <a16:creationId xmlns:a16="http://schemas.microsoft.com/office/drawing/2014/main" id="{4514A3F8-DCD5-48F3-9979-9B57E5CC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修复后</a:t>
            </a:r>
          </a:p>
        </p:txBody>
      </p:sp>
      <p:sp>
        <p:nvSpPr>
          <p:cNvPr id="7" name="切换时清空旧场次与选择。&#10;失败时显示错误和重试入">
            <a:extLst xmlns:a="http://schemas.openxmlformats.org/drawingml/2006/main">
              <a:ext uri="{FF2B5EF4-FFF2-40B4-BE49-F238E27FC236}">
                <a16:creationId xmlns:a16="http://schemas.microsoft.com/office/drawing/2014/main" id="{3E0A4480-14C1-4F7F-8107-0AAE6A6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51625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切换时清空旧场次与选择。</a:t>
            </a:r>
          </a:p>
          <a:p xmlns:a="http://schemas.openxmlformats.org/drawingml/2006/main">
            <a:pPr>
              <a:def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失败时显示错误和重试入口。</a:t>
            </a:r>
          </a:p>
          <a:p xmlns:a="http://schemas.openxmlformats.org/drawingml/2006/main">
            <a:pPr>
              <a:def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恢复后重新加载所选日期。</a:t>
            </a:r>
          </a:p>
        </p:txBody>
      </p:sp>
      <p:sp>
        <p:nvSpPr>
          <p:cNvPr id="8" name="操作方式保持不变：选日期，再选场地与时段。">
            <a:extLst xmlns:a="http://schemas.openxmlformats.org/drawingml/2006/main">
              <a:ext uri="{FF2B5EF4-FFF2-40B4-BE49-F238E27FC236}">
                <a16:creationId xmlns:a16="http://schemas.microsoft.com/office/drawing/2014/main" id="{5DBCD80B-9FEF-454A-9EE4-CA8926AD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操作方式保持不变：选日期，再选场地与时段。</a:t>
            </a:r>
          </a:p>
        </p:txBody>
      </p:sp>
      <p:sp>
        <p:nvSpPr>
          <p:cNvPr id="9" name="游客浏览与已授权的前台代订继续保留。">
            <a:extLst xmlns:a="http://schemas.openxmlformats.org/drawingml/2006/main">
              <a:ext uri="{FF2B5EF4-FFF2-40B4-BE49-F238E27FC236}">
                <a16:creationId xmlns:a16="http://schemas.microsoft.com/office/drawing/2014/main" id="{DAB862E9-045D-4789-8B20-2870218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游客浏览与已授权的前台代订继续保留。</a:t>
            </a:r>
          </a:p>
        </p:txBody>
      </p:sp>
    </p:spTree>
    <p:extLst>
      <p:ext uri="{BB962C8B-B14F-4D97-AF65-F5344CB8AC3E}">
        <p14:creationId xmlns:p14="http://schemas.microsoft.com/office/powerpoint/2010/main" val="392738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课表查询与历史详情">
            <a:extLst xmlns:a="http://schemas.openxmlformats.org/drawingml/2006/main">
              <a:ext uri="{FF2B5EF4-FFF2-40B4-BE49-F238E27FC236}">
                <a16:creationId xmlns:a16="http://schemas.microsoft.com/office/drawing/2014/main" id="{1842B4A8-93D6-409B-B321-037E7226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课表查询与历史详情</a:t>
            </a:r>
          </a:p>
        </p:txBody>
      </p:sp>
      <p:sp>
        <p:nvSpPr>
          <p:cNvPr id="2" name="避免课次较多时漏掉今日课程，或找不到旧课次。">
            <a:extLst xmlns:a="http://schemas.openxmlformats.org/drawingml/2006/main">
              <a:ext uri="{FF2B5EF4-FFF2-40B4-BE49-F238E27FC236}">
                <a16:creationId xmlns:a16="http://schemas.microsoft.com/office/drawing/2014/main" id="{B6FDAC46-AE9D-4486-9F86-99ED5E8A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避免课次较多时漏掉今日课程，或找不到旧课次。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5C8C0764-5F5B-4612-8E56-01E32E91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今日、明日、全部">
            <a:extLst xmlns:a="http://schemas.openxmlformats.org/drawingml/2006/main">
              <a:ext uri="{FF2B5EF4-FFF2-40B4-BE49-F238E27FC236}">
                <a16:creationId xmlns:a16="http://schemas.microsoft.com/office/drawing/2014/main" id="{37AE8D4E-AC4E-419A-8C01-4D538577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596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今日、明日、全部</a:t>
            </a:r>
          </a:p>
        </p:txBody>
      </p:sp>
      <p:sp>
        <p:nvSpPr>
          <p:cNvPr id="5" name="按日期和课程名称筛选后再翻页，&#10;结果较多时可“加">
            <a:extLst xmlns:a="http://schemas.openxmlformats.org/drawingml/2006/main">
              <a:ext uri="{FF2B5EF4-FFF2-40B4-BE49-F238E27FC236}">
                <a16:creationId xmlns:a16="http://schemas.microsoft.com/office/drawing/2014/main" id="{EC14DCFC-BA61-4DD9-9CFC-98BC246D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按日期和课程名称筛选后再翻页，</a:t>
            </a:r>
          </a:p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结果较多时可“加载更多课次”。</a:t>
            </a:r>
          </a:p>
        </p:txBody>
      </p:sp>
      <p:sp>
        <p:nvSpPr>
          <p:cNvPr id="6" name="历史课次直接打开">
            <a:extLst xmlns:a="http://schemas.openxmlformats.org/drawingml/2006/main">
              <a:ext uri="{FF2B5EF4-FFF2-40B4-BE49-F238E27FC236}">
                <a16:creationId xmlns:a16="http://schemas.microsoft.com/office/drawing/2014/main" id="{FABD073D-C2EC-44EF-A60E-D123B69B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605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历史课次直接打开</a:t>
            </a:r>
          </a:p>
        </p:txBody>
      </p:sp>
      <p:sp>
        <p:nvSpPr>
          <p:cNvPr id="7" name="从历史记录或待办进入详情，&#10;不再依赖是否出现在首">
            <a:extLst xmlns:a="http://schemas.openxmlformats.org/drawingml/2006/main">
              <a:ext uri="{FF2B5EF4-FFF2-40B4-BE49-F238E27FC236}">
                <a16:creationId xmlns:a16="http://schemas.microsoft.com/office/drawing/2014/main" id="{55EE2A7D-4C96-4E41-9F3E-ABB0AB2B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从历史记录或待办进入详情，</a:t>
            </a:r>
          </a:p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不再依赖是否出现在首批列表中。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0fcb43086491b"/>
          <a:stretch xmlns:a="http://schemas.openxmlformats.org/drawingml/2006/main"/>
        </p:blipFill>
        <p:spPr>
          <a:xfrm xmlns:a="http://schemas.openxmlformats.org/drawingml/2006/main">
            <a:off x="7527727" y="1952625"/>
            <a:ext cx="3899297" cy="3743325"/>
          </a:xfrm>
          <a:prstGeom xmlns:a="http://schemas.openxmlformats.org/drawingml/2006/main" prst="rect">
            <a:avLst/>
          </a:prstGeom>
        </p:spPr>
      </p:pic>
      <p:sp>
        <p:nvSpPr>
          <p:cNvPr id="9" name="界面局部示例：H5 模拟数据">
            <a:extLst xmlns:a="http://schemas.openxmlformats.org/drawingml/2006/main">
              <a:ext uri="{FF2B5EF4-FFF2-40B4-BE49-F238E27FC236}">
                <a16:creationId xmlns:a16="http://schemas.microsoft.com/office/drawing/2014/main" id="{F637C37B-5E53-422C-BB34-903BA060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769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界面局部示例：H5 模拟数据</a:t>
            </a:r>
          </a:p>
        </p:txBody>
      </p:sp>
    </p:spTree>
    <p:extLst>
      <p:ext uri="{BB962C8B-B14F-4D97-AF65-F5344CB8AC3E}">
        <p14:creationId xmlns:p14="http://schemas.microsoft.com/office/powerpoint/2010/main" val="798976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试听与课程回填">
            <a:extLst xmlns:a="http://schemas.openxmlformats.org/drawingml/2006/main">
              <a:ext uri="{FF2B5EF4-FFF2-40B4-BE49-F238E27FC236}">
                <a16:creationId xmlns:a16="http://schemas.microsoft.com/office/drawing/2014/main" id="{0A8CDA7C-5F7F-47F5-9ABE-ED47B839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试听与课程回填</a:t>
            </a:r>
          </a:p>
        </p:txBody>
      </p:sp>
      <p:sp>
        <p:nvSpPr>
          <p:cNvPr id="2" name="已有能力，本版纳入核心界面回归。">
            <a:extLst xmlns:a="http://schemas.openxmlformats.org/drawingml/2006/main">
              <a:ext uri="{FF2B5EF4-FFF2-40B4-BE49-F238E27FC236}">
                <a16:creationId xmlns:a16="http://schemas.microsoft.com/office/drawing/2014/main" id="{5307E10D-0C15-4DA5-ACAF-04A23202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已有能力，本版纳入核心界面回归。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F67A2400-1F28-4F4C-A6F9-BFA8944F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补齐课次后，接着预约">
            <a:extLst xmlns:a="http://schemas.openxmlformats.org/drawingml/2006/main">
              <a:ext uri="{FF2B5EF4-FFF2-40B4-BE49-F238E27FC236}">
                <a16:creationId xmlns:a16="http://schemas.microsoft.com/office/drawing/2014/main" id="{7A63CA6E-DDC1-4575-BFF8-5B9C4D76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补齐课次后，接着预约</a:t>
            </a:r>
          </a:p>
        </p:txBody>
      </p:sp>
      <p:sp>
        <p:nvSpPr>
          <p:cNvPr id="5" name="试听缺少可约时间时，可前往排课。&#10;完成后返回，保">
            <a:extLst xmlns:a="http://schemas.openxmlformats.org/drawingml/2006/main">
              <a:ext uri="{FF2B5EF4-FFF2-40B4-BE49-F238E27FC236}">
                <a16:creationId xmlns:a16="http://schemas.microsoft.com/office/drawing/2014/main" id="{7DF18815-1E0E-49AC-A134-6E8C7192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651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试听缺少可约时间时，可前往排课。</a:t>
            </a:r>
          </a:p>
          <a:p xmlns:a="http://schemas.openxmlformats.org/drawingml/2006/main">
            <a:pPr>
              <a:def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完成后返回，保留学员与备注，</a:t>
            </a:r>
          </a:p>
          <a:p xmlns:a="http://schemas.openxmlformats.org/drawingml/2006/main">
            <a:pPr>
              <a:def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并选中新建课次。</a:t>
            </a:r>
          </a:p>
        </p:txBody>
      </p:sp>
      <p:sp>
        <p:nvSpPr>
          <p:cNvPr id="6" name="创建班级时缺少课程，也可先创建&#10;课程，再回到原班">
            <a:extLst xmlns:a="http://schemas.openxmlformats.org/drawingml/2006/main">
              <a:ext uri="{FF2B5EF4-FFF2-40B4-BE49-F238E27FC236}">
                <a16:creationId xmlns:a16="http://schemas.microsoft.com/office/drawing/2014/main" id="{DB454E3E-6AEE-4442-8FA8-1E4F3EC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创建班级时缺少课程，也可先创建</a:t>
            </a:r>
          </a:p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课程，再回到原班级表单继续填写。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63ac96e1947f6"/>
          <a:stretch xmlns:a="http://schemas.openxmlformats.org/drawingml/2006/main"/>
        </p:blipFill>
        <p:spPr>
          <a:xfrm xmlns:a="http://schemas.openxmlformats.org/drawingml/2006/main">
            <a:off x="8325654" y="1704975"/>
            <a:ext cx="2151043" cy="4657725"/>
          </a:xfrm>
          <a:prstGeom xmlns:a="http://schemas.openxmlformats.org/drawingml/2006/main" prst="rect">
            <a:avLst/>
          </a:prstGeom>
        </p:spPr>
      </p:pic>
      <p:sp>
        <p:nvSpPr>
          <p:cNvPr id="8" name="H5 模拟数据">
            <a:extLst xmlns:a="http://schemas.openxmlformats.org/drawingml/2006/main">
              <a:ext uri="{FF2B5EF4-FFF2-40B4-BE49-F238E27FC236}">
                <a16:creationId xmlns:a16="http://schemas.microsoft.com/office/drawing/2014/main" id="{7B4E89CB-61FB-4ACF-B3BF-46226E0A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42937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H5 模拟数据</a:t>
            </a:r>
          </a:p>
        </p:txBody>
      </p:sp>
    </p:spTree>
    <p:extLst>
      <p:ext uri="{BB962C8B-B14F-4D97-AF65-F5344CB8AC3E}">
        <p14:creationId xmlns:p14="http://schemas.microsoft.com/office/powerpoint/2010/main" val="128817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连续代订与退款反馈">
            <a:extLst xmlns:a="http://schemas.openxmlformats.org/drawingml/2006/main">
              <a:ext uri="{FF2B5EF4-FFF2-40B4-BE49-F238E27FC236}">
                <a16:creationId xmlns:a16="http://schemas.microsoft.com/office/drawing/2014/main" id="{650B6469-CEDF-4460-BE56-C9F93C2E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连续代订与退款反馈</a:t>
            </a:r>
          </a:p>
        </p:txBody>
      </p:sp>
      <p:sp>
        <p:nvSpPr>
          <p:cNvPr id="2" name="已有能力，本版继续验证关键结果与异常恢复。">
            <a:extLst xmlns:a="http://schemas.openxmlformats.org/drawingml/2006/main">
              <a:ext uri="{FF2B5EF4-FFF2-40B4-BE49-F238E27FC236}">
                <a16:creationId xmlns:a16="http://schemas.microsoft.com/office/drawing/2014/main" id="{A0ECC73C-5C1D-4541-BB4A-2C2231AD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已有能力，本版继续验证关键结果与异常恢复。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4F56341A-5AC0-4953-90CE-17A6529D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代订完成后，下一步更明确">
            <a:extLst xmlns:a="http://schemas.openxmlformats.org/drawingml/2006/main">
              <a:ext uri="{FF2B5EF4-FFF2-40B4-BE49-F238E27FC236}">
                <a16:creationId xmlns:a16="http://schemas.microsoft.com/office/drawing/2014/main" id="{D6B1A38C-B528-4E3A-8465-EFEAF2EF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620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代订完成后，下一步更明确</a:t>
            </a:r>
          </a:p>
        </p:txBody>
      </p:sp>
      <p:sp>
        <p:nvSpPr>
          <p:cNvPr id="5" name="“同一会员再订”保留会员。&#10;“为下一位订场”清除">
            <a:extLst xmlns:a="http://schemas.openxmlformats.org/drawingml/2006/main">
              <a:ext uri="{FF2B5EF4-FFF2-40B4-BE49-F238E27FC236}">
                <a16:creationId xmlns:a16="http://schemas.microsoft.com/office/drawing/2014/main" id="{9491E7CE-021D-4A69-ACCB-7BA5BDC8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6134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“同一会员再订”保留会员。</a:t>
            </a:r>
          </a:p>
          <a:p xmlns:a="http://schemas.openxmlformats.org/drawingml/2006/main">
            <a:pPr>
              <a:def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“为下一位订场”清除会员。</a:t>
            </a:r>
          </a:p>
          <a:p xmlns:a="http://schemas.openxmlformats.org/drawingml/2006/main">
            <a:pPr>
              <a:def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新单都不带入上一笔的场次。</a:t>
            </a:r>
          </a:p>
        </p:txBody>
      </p:sp>
      <p:sp>
        <p:nvSpPr>
          <p:cNvPr id="6" name="退款已受理，但刷新失败">
            <a:extLst xmlns:a="http://schemas.openxmlformats.org/drawingml/2006/main">
              <a:ext uri="{FF2B5EF4-FFF2-40B4-BE49-F238E27FC236}">
                <a16:creationId xmlns:a16="http://schemas.microsoft.com/office/drawing/2014/main" id="{50CB1A9C-DA79-4FBD-82CE-8AB7A91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632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退款已受理，但刷新失败</a:t>
            </a:r>
          </a:p>
        </p:txBody>
      </p:sp>
      <p:sp>
        <p:nvSpPr>
          <p:cNvPr id="7" name="保留已受理结果，支持刷新进度，&#10;避免因页面未更新">
            <a:extLst xmlns:a="http://schemas.openxmlformats.org/drawingml/2006/main">
              <a:ext uri="{FF2B5EF4-FFF2-40B4-BE49-F238E27FC236}">
                <a16:creationId xmlns:a16="http://schemas.microsoft.com/office/drawing/2014/main" id="{81B42443-2D99-4B36-A5CE-E2F6E06C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6334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保留已受理结果，支持刷新进度，</a:t>
            </a:r>
          </a:p>
          <a:p xmlns:a="http://schemas.openxmlformats.org/drawingml/2006/main">
            <a:pPr>
              <a:def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避免因页面未更新而重复提交。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af2b8fc974386"/>
          <a:stretch xmlns:a="http://schemas.openxmlformats.org/drawingml/2006/main"/>
        </p:blipFill>
        <p:spPr>
          <a:xfrm xmlns:a="http://schemas.openxmlformats.org/drawingml/2006/main">
            <a:off x="7777163" y="2114550"/>
            <a:ext cx="3457575" cy="4086225"/>
          </a:xfrm>
          <a:prstGeom xmlns:a="http://schemas.openxmlformats.org/drawingml/2006/main" prst="rect">
            <a:avLst/>
          </a:prstGeom>
        </p:spPr>
      </p:pic>
      <p:sp>
        <p:nvSpPr>
          <p:cNvPr id="9" name="代订回执示例：H5 模拟数据">
            <a:extLst xmlns:a="http://schemas.openxmlformats.org/drawingml/2006/main">
              <a:ext uri="{FF2B5EF4-FFF2-40B4-BE49-F238E27FC236}">
                <a16:creationId xmlns:a16="http://schemas.microsoft.com/office/drawing/2014/main" id="{5CA5CDD1-0266-4A82-B018-C509B85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3436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代订回执示例：H5 模拟数据</a:t>
            </a:r>
          </a:p>
        </p:txBody>
      </p:sp>
    </p:spTree>
    <p:extLst>
      <p:ext uri="{BB962C8B-B14F-4D97-AF65-F5344CB8AC3E}">
        <p14:creationId xmlns:p14="http://schemas.microsoft.com/office/powerpoint/2010/main" val="1009466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工程验证结果">
            <a:extLst xmlns:a="http://schemas.openxmlformats.org/drawingml/2006/main">
              <a:ext uri="{FF2B5EF4-FFF2-40B4-BE49-F238E27FC236}">
                <a16:creationId xmlns:a16="http://schemas.microsoft.com/office/drawing/2014/main" id="{B0243EDB-C64F-4DC5-A82F-3555883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工程验证结果</a:t>
            </a:r>
          </a:p>
        </p:txBody>
      </p:sp>
      <p:sp>
        <p:nvSpPr>
          <p:cNvPr id="2" name="自动检查已通过，手机上的真实操作仍需验收。">
            <a:extLst xmlns:a="http://schemas.openxmlformats.org/drawingml/2006/main">
              <a:ext uri="{FF2B5EF4-FFF2-40B4-BE49-F238E27FC236}">
                <a16:creationId xmlns:a16="http://schemas.microsoft.com/office/drawing/2014/main" id="{CAD6F5D1-EC39-449D-8163-43B97CBA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自动检查已通过，手机上的真实操作仍需验收。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F3BC63F7-6A5A-4444-9B59-C0D8770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4057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096125"/>
                <a:gridCol w="3724275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验证范围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通过结果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API 单元与服务测试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965 项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小程序单元测试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635 项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PostgreSQL 核心业务测试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390 项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 端到端 / 共享模块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47 项 / 19 项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核心界面自动流程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组流程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另已通过构建、类型检查与 102 个原生 WXS">
            <a:extLst xmlns:a="http://schemas.openxmlformats.org/drawingml/2006/main">
              <a:ext uri="{FF2B5EF4-FFF2-40B4-BE49-F238E27FC236}">
                <a16:creationId xmlns:a16="http://schemas.microsoft.com/office/drawing/2014/main" id="{FEEFF924-B50B-4DA4-91EB-BD0DC159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另已通过构建、类型检查与 102 个原生 WXSS 文件编译。</a:t>
            </a:r>
          </a:p>
        </p:txBody>
      </p:sp>
    </p:spTree>
    <p:extLst>
      <p:ext uri="{BB962C8B-B14F-4D97-AF65-F5344CB8AC3E}">
        <p14:creationId xmlns:p14="http://schemas.microsoft.com/office/powerpoint/2010/main" val="1512364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升级后的岗位验收">
            <a:extLst xmlns:a="http://schemas.openxmlformats.org/drawingml/2006/main">
              <a:ext uri="{FF2B5EF4-FFF2-40B4-BE49-F238E27FC236}">
                <a16:creationId xmlns:a16="http://schemas.microsoft.com/office/drawing/2014/main" id="{A9FACFEC-7CBE-4FC9-9DA1-8682472A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升级后的岗位验收</a:t>
            </a:r>
          </a:p>
        </p:txBody>
      </p:sp>
      <p:sp>
        <p:nvSpPr>
          <p:cNvPr id="2" name="先在“我的”中打开“关于金羽会员”，确认体验版为">
            <a:extLst xmlns:a="http://schemas.openxmlformats.org/drawingml/2006/main">
              <a:ext uri="{FF2B5EF4-FFF2-40B4-BE49-F238E27FC236}">
                <a16:creationId xmlns:a16="http://schemas.microsoft.com/office/drawing/2014/main" id="{02125375-6E7F-4EFF-908E-01CABBA8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先在“我的”中打开“关于金羽会员”，确认体验版为 1.0.12。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BAFF161B-03BA-4F9D-BBD9-5C074AA5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133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125"/>
                <a:gridCol w="4191000"/>
                <a:gridCol w="4867275"/>
              </a:tblGrid>
              <a:tr h="688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岗位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重点操作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通过标准</a:t>
                      </a:r>
                    </a:p>
                  </a:txBody>
                  <a:tcPr marL="171450" marR="171450" marT="152400" marB="114300" anchor="ctr">
                    <a:solidFill>
                      <a:srgbClr val="186B49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游客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切换订场日期，断网后重试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不弹登录，不显示上一天的场次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前台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连续代订，试听缺课次后补排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会员切换正确，试听信息能保留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培训管理员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查课表、历史详情，创建不限课程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筛选与翻页可用，课程可保存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教练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查看自己任教的课次与名单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范围正确，详情可以打开</a:t>
                      </a:r>
                    </a:p>
                  </a:txBody>
                  <a:tcPr marL="171450" marR="171450" marT="152400" marB="114300" anchor="ctr">
                    <a:solidFill>
                      <a:srgbClr val="E8EFE7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会员与管理员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会员本人支付，管理员办理退款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6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双方状态一致，实际到账可核对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真实收退款使用现场同意的验收单。“处理中”不代表">
            <a:extLst xmlns:a="http://schemas.openxmlformats.org/drawingml/2006/main">
              <a:ext uri="{FF2B5EF4-FFF2-40B4-BE49-F238E27FC236}">
                <a16:creationId xmlns:a16="http://schemas.microsoft.com/office/drawing/2014/main" id="{7309255A-DBFF-4659-998B-27F4ED70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341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真实收退款使用现场同意的验收单。“处理中”不代表已到账。</a:t>
            </a:r>
          </a:p>
        </p:txBody>
      </p:sp>
    </p:spTree>
    <p:extLst>
      <p:ext uri="{BB962C8B-B14F-4D97-AF65-F5344CB8AC3E}">
        <p14:creationId xmlns:p14="http://schemas.microsoft.com/office/powerpoint/2010/main" val="1038207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发布状态与升级顺序">
            <a:extLst xmlns:a="http://schemas.openxmlformats.org/drawingml/2006/main">
              <a:ext uri="{FF2B5EF4-FFF2-40B4-BE49-F238E27FC236}">
                <a16:creationId xmlns:a16="http://schemas.microsoft.com/office/drawing/2014/main" id="{2B01B6DF-973E-48A3-BC9D-85E6ED2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发布状态与升级顺序</a:t>
            </a:r>
          </a:p>
        </p:txBody>
      </p:sp>
      <p:sp>
        <p:nvSpPr>
          <p:cNvPr id="2" name="截至 2026 年 9 月 27 日，本版仍待部">
            <a:extLst xmlns:a="http://schemas.openxmlformats.org/drawingml/2006/main">
              <a:ext uri="{FF2B5EF4-FFF2-40B4-BE49-F238E27FC236}">
                <a16:creationId xmlns:a16="http://schemas.microsoft.com/office/drawing/2014/main" id="{72CCCD01-75A4-40F8-8A44-7D3D2247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截至 2026 年 9 月 27 日，本版仍待部署。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C1874346-36B5-4001-BE8B-B85CDE1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已完成">
            <a:extLst xmlns:a="http://schemas.openxmlformats.org/drawingml/2006/main">
              <a:ext uri="{FF2B5EF4-FFF2-40B4-BE49-F238E27FC236}">
                <a16:creationId xmlns:a16="http://schemas.microsoft.com/office/drawing/2014/main" id="{2A872052-0DF9-4F22-A6B2-B9271AB5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</a:p>
        </p:txBody>
      </p:sp>
      <p:sp>
        <p:nvSpPr>
          <p:cNvPr id="5" name="代码合并与自动检查">
            <a:extLst xmlns:a="http://schemas.openxmlformats.org/drawingml/2006/main">
              <a:ext uri="{FF2B5EF4-FFF2-40B4-BE49-F238E27FC236}">
                <a16:creationId xmlns:a16="http://schemas.microsoft.com/office/drawing/2014/main" id="{256B2F5D-0260-4A8B-A850-C816BDDC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19300"/>
            <a:ext cx="738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代码合并与自动检查</a:t>
            </a:r>
          </a:p>
        </p:txBody>
      </p:sp>
      <p:sp>
        <p:nvSpPr>
          <p:cNvPr id="6" name="待执行">
            <a:extLst xmlns:a="http://schemas.openxmlformats.org/drawingml/2006/main">
              <a:ext uri="{FF2B5EF4-FFF2-40B4-BE49-F238E27FC236}">
                <a16:creationId xmlns:a16="http://schemas.microsoft.com/office/drawing/2014/main" id="{B39379D5-EC7C-441B-AD5F-79CF691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待执行</a:t>
            </a:r>
          </a:p>
        </p:txBody>
      </p:sp>
      <p:sp>
        <p:nvSpPr>
          <p:cNvPr id="7" name="服务端部署、小程序上传与体验版设置">
            <a:extLst xmlns:a="http://schemas.openxmlformats.org/drawingml/2006/main">
              <a:ext uri="{FF2B5EF4-FFF2-40B4-BE49-F238E27FC236}">
                <a16:creationId xmlns:a16="http://schemas.microsoft.com/office/drawing/2014/main" id="{6AFEAC5C-6A07-4DC3-B697-588825F1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43225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服务端部署、小程序上传与体验版设置</a:t>
            </a:r>
          </a:p>
        </p:txBody>
      </p:sp>
      <p:sp>
        <p:nvSpPr>
          <p:cNvPr id="8" name="随后验收">
            <a:extLst xmlns:a="http://schemas.openxmlformats.org/drawingml/2006/main">
              <a:ext uri="{FF2B5EF4-FFF2-40B4-BE49-F238E27FC236}">
                <a16:creationId xmlns:a16="http://schemas.microsoft.com/office/drawing/2014/main" id="{F47AC3F5-62F7-4AA7-B194-218B63CD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随后验收</a:t>
            </a:r>
          </a:p>
        </p:txBody>
      </p:sp>
      <p:sp>
        <p:nvSpPr>
          <p:cNvPr id="9" name="手机核对版本，按岗位走完业务流程">
            <a:extLst xmlns:a="http://schemas.openxmlformats.org/drawingml/2006/main">
              <a:ext uri="{FF2B5EF4-FFF2-40B4-BE49-F238E27FC236}">
                <a16:creationId xmlns:a16="http://schemas.microsoft.com/office/drawing/2014/main" id="{31CABB78-DAD2-45F7-B4D0-D735910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62425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62C"/>
                </a:solidFill>
                <a:latin typeface="Hiragino Sans GB"/>
                <a:ea typeface="Hiragino Sans GB"/>
                <a:cs typeface="Hiragino Sans GB"/>
              </a:rPr>
              <a:t>手机核对版本，按岗位走完业务流程</a:t>
            </a:r>
          </a:p>
        </p:txBody>
      </p:sp>
      <p:sp>
        <p:nvSpPr>
          <p:cNvPr id="10" name="发布顺序：先更新服务端，再更新小程序。">
            <a:extLst xmlns:a="http://schemas.openxmlformats.org/drawingml/2006/main">
              <a:ext uri="{FF2B5EF4-FFF2-40B4-BE49-F238E27FC236}">
                <a16:creationId xmlns:a16="http://schemas.microsoft.com/office/drawing/2014/main" id="{C10B50EC-DD89-40A2-96C8-5B6DF7DC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6B49"/>
                </a:solidFill>
                <a:latin typeface="Hiragino Sans GB"/>
                <a:ea typeface="Hiragino Sans GB"/>
                <a:cs typeface="Hiragino Sans GB"/>
              </a:rPr>
              <a:t>发布顺序：先更新服务端，再更新小程序。</a:t>
            </a:r>
          </a:p>
        </p:txBody>
      </p:sp>
      <p:sp>
        <p:nvSpPr>
          <p:cNvPr id="11" name="本版无数据库结构变更，保留旧课表接口以兼容已发布">
            <a:extLst xmlns:a="http://schemas.openxmlformats.org/drawingml/2006/main">
              <a:ext uri="{FF2B5EF4-FFF2-40B4-BE49-F238E27FC236}">
                <a16:creationId xmlns:a16="http://schemas.microsoft.com/office/drawing/2014/main" id="{250F1A51-151F-43B2-90F5-B5DA833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6665E"/>
                </a:solidFill>
                <a:latin typeface="Hiragino Sans GB"/>
                <a:ea typeface="Hiragino Sans GB"/>
                <a:cs typeface="Hiragino Sans GB"/>
              </a:rPr>
              <a:t>本版无数据库结构变更，保留旧课表接口以兼容已发布客户端。</a:t>
            </a:r>
          </a:p>
        </p:txBody>
      </p:sp>
    </p:spTree>
    <p:extLst>
      <p:ext uri="{BB962C8B-B14F-4D97-AF65-F5344CB8AC3E}">
        <p14:creationId xmlns:p14="http://schemas.microsoft.com/office/powerpoint/2010/main" val="68559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2026-09-27T05:43:06.3270000Z</dcterms:created>
  <dcterms:modified xsi:type="dcterms:W3CDTF">2026-09-27T05:43:06.3270000Z</dcterms:modified>
</coreProperties>
</file>